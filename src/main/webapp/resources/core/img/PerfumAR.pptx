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68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PERFUMAR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868680" y="34290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A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de gestión y descubrimiento de perfumes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" y="4160520"/>
            <a:ext cx="2011680" cy="0"/>
          </a:xfrm>
          <a:prstGeom prst="line">
            <a:avLst/>
          </a:prstGeom>
          <a:noFill/>
          <a:ln w="25400">
            <a:solidFill>
              <a:srgbClr val="7A3B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4434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B9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</a:t>
            </a:r>
            <a:r>
              <a:rPr lang="en-US" sz="1400" dirty="0" err="1">
                <a:solidFill>
                  <a:srgbClr val="B9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práctico</a:t>
            </a:r>
            <a:r>
              <a:rPr lang="en-US" sz="1400" dirty="0">
                <a:solidFill>
                  <a:srgbClr val="B9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—Taller Web I
Coronel Ivan · Marron Lucas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0" y="6309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boutique de perfumes, hecha con Java y Spring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PerfumAR permite explorar un catálogo de fragancias, armar una colección propia, marcar favoritos, dejar reseñas, encontrar perfumerías cercanas en un mapa y recibir recomendaciones de un asistente con inteligencia artificial.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F4F3F1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3630168"/>
            <a:ext cx="128016" cy="128016"/>
          </a:xfrm>
          <a:prstGeom prst="ellipse">
            <a:avLst/>
          </a:prstGeom>
          <a:solidFill>
            <a:srgbClr val="7A3B34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384048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y colección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4142232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Perfumes reales guardados en base de datos, con estado de maceración.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51960" y="342900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F4F3F1"/>
          </a:solidFill>
          <a:ln/>
        </p:spPr>
      </p:sp>
      <p:sp>
        <p:nvSpPr>
          <p:cNvPr id="10" name="Shape 8"/>
          <p:cNvSpPr/>
          <p:nvPr/>
        </p:nvSpPr>
        <p:spPr>
          <a:xfrm>
            <a:off x="4453128" y="3630168"/>
            <a:ext cx="128016" cy="128016"/>
          </a:xfrm>
          <a:prstGeom prst="ellipse">
            <a:avLst/>
          </a:prstGeom>
          <a:solidFill>
            <a:srgbClr val="7A3B34"/>
          </a:solidFill>
          <a:ln/>
        </p:spPr>
      </p:sp>
      <p:sp>
        <p:nvSpPr>
          <p:cNvPr id="11" name="Text 9"/>
          <p:cNvSpPr/>
          <p:nvPr/>
        </p:nvSpPr>
        <p:spPr>
          <a:xfrm>
            <a:off x="4453128" y="384048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53128" y="4142232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personal con recomendaciones dinámicas según tus gustos.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55280" y="342900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F4F3F1"/>
          </a:solidFill>
          <a:ln/>
        </p:spPr>
      </p:sp>
      <p:sp>
        <p:nvSpPr>
          <p:cNvPr id="14" name="Shape 12"/>
          <p:cNvSpPr/>
          <p:nvPr/>
        </p:nvSpPr>
        <p:spPr>
          <a:xfrm>
            <a:off x="8156448" y="3630168"/>
            <a:ext cx="128016" cy="128016"/>
          </a:xfrm>
          <a:prstGeom prst="ellipse">
            <a:avLst/>
          </a:prstGeom>
          <a:solidFill>
            <a:srgbClr val="7A3B34"/>
          </a:solidFill>
          <a:ln/>
        </p:spPr>
      </p:sp>
      <p:sp>
        <p:nvSpPr>
          <p:cNvPr id="15" name="Text 13"/>
          <p:cNvSpPr/>
          <p:nvPr/>
        </p:nvSpPr>
        <p:spPr>
          <a:xfrm>
            <a:off x="8156448" y="384048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56448" y="4142232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Puntuación y comentarios de otros usuarios por perfume.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F4F3F1"/>
          </a:solidFill>
          <a:ln/>
        </p:spPr>
      </p:sp>
      <p:sp>
        <p:nvSpPr>
          <p:cNvPr id="18" name="Shape 16"/>
          <p:cNvSpPr/>
          <p:nvPr/>
        </p:nvSpPr>
        <p:spPr>
          <a:xfrm>
            <a:off x="749808" y="5047488"/>
            <a:ext cx="128016" cy="128016"/>
          </a:xfrm>
          <a:prstGeom prst="ellipse">
            <a:avLst/>
          </a:prstGeom>
          <a:solidFill>
            <a:srgbClr val="7A3B34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525780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perfumerías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5559552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 + cálculo de distancia + Leaflet.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51960" y="484632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F4F3F1"/>
          </a:solidFill>
          <a:ln/>
        </p:spPr>
      </p:sp>
      <p:sp>
        <p:nvSpPr>
          <p:cNvPr id="22" name="Shape 20"/>
          <p:cNvSpPr/>
          <p:nvPr/>
        </p:nvSpPr>
        <p:spPr>
          <a:xfrm>
            <a:off x="4453128" y="5047488"/>
            <a:ext cx="128016" cy="128016"/>
          </a:xfrm>
          <a:prstGeom prst="ellipse">
            <a:avLst/>
          </a:prstGeom>
          <a:solidFill>
            <a:srgbClr val="7A3B34"/>
          </a:solidFill>
          <a:ln/>
        </p:spPr>
      </p:sp>
      <p:sp>
        <p:nvSpPr>
          <p:cNvPr id="23" name="Text 21"/>
          <p:cNvSpPr/>
          <p:nvPr/>
        </p:nvSpPr>
        <p:spPr>
          <a:xfrm>
            <a:off x="4453128" y="525780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 IA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53128" y="5559552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vía Gemini, basadas en el catálogo real.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55280" y="4846320"/>
            <a:ext cx="3429000" cy="1188720"/>
          </a:xfrm>
          <a:prstGeom prst="roundRect">
            <a:avLst>
              <a:gd name="adj" fmla="val 6154"/>
            </a:avLst>
          </a:prstGeom>
          <a:solidFill>
            <a:srgbClr val="F4F3F1"/>
          </a:solidFill>
          <a:ln/>
        </p:spPr>
      </p:sp>
      <p:sp>
        <p:nvSpPr>
          <p:cNvPr id="26" name="Shape 24"/>
          <p:cNvSpPr/>
          <p:nvPr/>
        </p:nvSpPr>
        <p:spPr>
          <a:xfrm>
            <a:off x="8156448" y="5047488"/>
            <a:ext cx="128016" cy="128016"/>
          </a:xfrm>
          <a:prstGeom prst="ellipse">
            <a:avLst/>
          </a:prstGeom>
          <a:solidFill>
            <a:srgbClr val="7A3B34"/>
          </a:solidFill>
          <a:ln/>
        </p:spPr>
      </p:sp>
      <p:sp>
        <p:nvSpPr>
          <p:cNvPr id="27" name="Text 25"/>
          <p:cNvSpPr/>
          <p:nvPr/>
        </p:nvSpPr>
        <p:spPr>
          <a:xfrm>
            <a:off x="8156448" y="525780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56448" y="5559552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 de fragancia del día según el clima de tu ciudad.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capas, una responsabilidad cada una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383280" cy="2468880"/>
          </a:xfrm>
          <a:prstGeom prst="roundRect">
            <a:avLst>
              <a:gd name="adj" fmla="val 2222"/>
            </a:avLst>
          </a:prstGeom>
          <a:solidFill>
            <a:srgbClr val="7A3B34"/>
          </a:solidFill>
          <a:ln/>
        </p:spPr>
      </p:sp>
      <p:sp>
        <p:nvSpPr>
          <p:cNvPr id="5" name="Text 3"/>
          <p:cNvSpPr/>
          <p:nvPr/>
        </p:nvSpPr>
        <p:spPr>
          <a:xfrm>
            <a:off x="1078992" y="224028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78992" y="2834640"/>
            <a:ext cx="28712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Controladores (@Controller / @RestController). Reciben el HTTP y eligen la respuesta.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3063240"/>
            <a:ext cx="228600" cy="274320"/>
          </a:xfrm>
          <a:prstGeom prst="rightArrow">
            <a:avLst/>
          </a:prstGeom>
          <a:solidFill>
            <a:srgbClr val="6B6864"/>
          </a:solidFill>
          <a:ln/>
        </p:spPr>
      </p:sp>
      <p:sp>
        <p:nvSpPr>
          <p:cNvPr id="8" name="Shape 6"/>
          <p:cNvSpPr/>
          <p:nvPr/>
        </p:nvSpPr>
        <p:spPr>
          <a:xfrm>
            <a:off x="4526280" y="1965960"/>
            <a:ext cx="3383280" cy="2468880"/>
          </a:xfrm>
          <a:prstGeom prst="roundRect">
            <a:avLst>
              <a:gd name="adj" fmla="val 2222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4782312" y="224028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dominio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782312" y="2834640"/>
            <a:ext cx="28712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e interfaces (contratos). El corazón del modelo de negocio.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3063240"/>
            <a:ext cx="228600" cy="274320"/>
          </a:xfrm>
          <a:prstGeom prst="rightArrow">
            <a:avLst/>
          </a:prstGeom>
          <a:solidFill>
            <a:srgbClr val="6B6864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0" y="1965960"/>
            <a:ext cx="3383280" cy="2468880"/>
          </a:xfrm>
          <a:prstGeom prst="roundRect">
            <a:avLst>
              <a:gd name="adj" fmla="val 2222"/>
            </a:avLst>
          </a:prstGeom>
          <a:solidFill>
            <a:srgbClr val="494540"/>
          </a:solidFill>
          <a:ln/>
        </p:spPr>
      </p:sp>
      <p:sp>
        <p:nvSpPr>
          <p:cNvPr id="13" name="Text 11"/>
          <p:cNvSpPr/>
          <p:nvPr/>
        </p:nvSpPr>
        <p:spPr>
          <a:xfrm>
            <a:off x="8485632" y="224028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485632" y="2834640"/>
            <a:ext cx="28712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Implementaciones reales con Hibernate. Hablan con la base de datos.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800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depende de una interfaz, nunca de la implementación concreta de la capa siguiente — permite testear cada una por separado con mocks.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PUNTA A PUNTA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viaja un pedido: agregar un favorito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65960" cy="1554480"/>
          </a:xfrm>
          <a:prstGeom prst="roundRect">
            <a:avLst>
              <a:gd name="adj" fmla="val 3529"/>
            </a:avLst>
          </a:prstGeom>
          <a:solidFill>
            <a:srgbClr val="F4F3F1"/>
          </a:solidFill>
          <a:ln w="12700">
            <a:solidFill>
              <a:srgbClr val="DED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2542032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94944" y="2944368"/>
            <a:ext cx="1673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hace un POST a /agregar-a-favoritos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32888" y="3063240"/>
            <a:ext cx="201168" cy="182880"/>
          </a:xfrm>
          <a:prstGeom prst="rightArrow">
            <a:avLst/>
          </a:prstGeom>
          <a:solidFill>
            <a:srgbClr val="7A3B34"/>
          </a:solidFill>
          <a:ln/>
        </p:spPr>
      </p:sp>
      <p:sp>
        <p:nvSpPr>
          <p:cNvPr id="8" name="Shape 6"/>
          <p:cNvSpPr/>
          <p:nvPr/>
        </p:nvSpPr>
        <p:spPr>
          <a:xfrm>
            <a:off x="2770632" y="2377440"/>
            <a:ext cx="1965960" cy="1554480"/>
          </a:xfrm>
          <a:prstGeom prst="roundRect">
            <a:avLst>
              <a:gd name="adj" fmla="val 3529"/>
            </a:avLst>
          </a:prstGeom>
          <a:solidFill>
            <a:srgbClr val="F4F3F1"/>
          </a:solidFill>
          <a:ln w="12700">
            <a:solidFill>
              <a:srgbClr val="DED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16936" y="2542032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16936" y="2944368"/>
            <a:ext cx="1673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la sesión y delega en el Servicio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3063240"/>
            <a:ext cx="201168" cy="182880"/>
          </a:xfrm>
          <a:prstGeom prst="rightArrow">
            <a:avLst/>
          </a:prstGeom>
          <a:solidFill>
            <a:srgbClr val="7A3B34"/>
          </a:solidFill>
          <a:ln/>
        </p:spPr>
      </p:sp>
      <p:sp>
        <p:nvSpPr>
          <p:cNvPr id="12" name="Shape 10"/>
          <p:cNvSpPr/>
          <p:nvPr/>
        </p:nvSpPr>
        <p:spPr>
          <a:xfrm>
            <a:off x="4992624" y="2377440"/>
            <a:ext cx="1965960" cy="1554480"/>
          </a:xfrm>
          <a:prstGeom prst="roundRect">
            <a:avLst>
              <a:gd name="adj" fmla="val 3529"/>
            </a:avLst>
          </a:prstGeom>
          <a:solidFill>
            <a:srgbClr val="F4F3F1"/>
          </a:solidFill>
          <a:ln w="12700">
            <a:solidFill>
              <a:srgbClr val="DED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2542032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38928" y="2944368"/>
            <a:ext cx="1673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 abre la transacción y valida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76872" y="3063240"/>
            <a:ext cx="201168" cy="182880"/>
          </a:xfrm>
          <a:prstGeom prst="rightArrow">
            <a:avLst/>
          </a:prstGeom>
          <a:solidFill>
            <a:srgbClr val="7A3B34"/>
          </a:solidFill>
          <a:ln/>
        </p:spPr>
      </p:sp>
      <p:sp>
        <p:nvSpPr>
          <p:cNvPr id="16" name="Shape 14"/>
          <p:cNvSpPr/>
          <p:nvPr/>
        </p:nvSpPr>
        <p:spPr>
          <a:xfrm>
            <a:off x="7214616" y="2377440"/>
            <a:ext cx="1965960" cy="1554480"/>
          </a:xfrm>
          <a:prstGeom prst="roundRect">
            <a:avLst>
              <a:gd name="adj" fmla="val 3529"/>
            </a:avLst>
          </a:prstGeom>
          <a:solidFill>
            <a:srgbClr val="F4F3F1"/>
          </a:solidFill>
          <a:ln w="12700">
            <a:solidFill>
              <a:srgbClr val="DED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2542032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60920" y="2944368"/>
            <a:ext cx="1673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la sesión de Hibernate para guardar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98864" y="3063240"/>
            <a:ext cx="201168" cy="182880"/>
          </a:xfrm>
          <a:prstGeom prst="rightArrow">
            <a:avLst/>
          </a:prstGeom>
          <a:solidFill>
            <a:srgbClr val="7A3B34"/>
          </a:solidFill>
          <a:ln/>
        </p:spPr>
      </p:sp>
      <p:sp>
        <p:nvSpPr>
          <p:cNvPr id="20" name="Shape 18"/>
          <p:cNvSpPr/>
          <p:nvPr/>
        </p:nvSpPr>
        <p:spPr>
          <a:xfrm>
            <a:off x="9436608" y="2377440"/>
            <a:ext cx="1965960" cy="1554480"/>
          </a:xfrm>
          <a:prstGeom prst="roundRect">
            <a:avLst>
              <a:gd name="adj" fmla="val 3529"/>
            </a:avLst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9582912" y="2542032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582912" y="2944368"/>
            <a:ext cx="1673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Commit: el registro queda guardado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"@Transactional": si algo falla en el medio, se deshace todo (rollback). Si termina bien, se confirma todo junto (commit).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INTERNA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Controladores que hablan HTML, controladores que hablan JSON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1920240"/>
          </a:xfrm>
          <a:prstGeom prst="roundRect">
            <a:avLst>
              <a:gd name="adj" fmla="val 2857"/>
            </a:avLst>
          </a:prstGeom>
          <a:solidFill>
            <a:srgbClr val="F4F3F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una vista Thymeleaf: arma un ModelMap y elige qué archivo .html renderizar. El navegador recibe una página completa.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783080"/>
            <a:ext cx="5120640" cy="1920240"/>
          </a:xfrm>
          <a:prstGeom prst="roundRect">
            <a:avLst>
              <a:gd name="adj" fmla="val 2857"/>
            </a:avLst>
          </a:prstGeom>
          <a:solidFill>
            <a:srgbClr val="7A3B34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1965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72200" y="237744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2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datos: Spring (con Jackson) convierte el objeto Java a JSON. El JavaScript del navegador lo pide con fetch() sin recargar la página.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JSON del proyecto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3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/api/perfumes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0" y="44348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completo (con búsqueda por nombre)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3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/api/favoritos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4937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Favoritos del usuario logueado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440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3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/api/locales-cercanos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5440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Perfumerías más cercanas a una coordenada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DTO (PerfumeCatalogoDTO) expone solo los campos necesarios — nunca la entidad de Hibernate tal cual se guarda.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 colección vs. Favoritos: dos conceptos distintos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4114800"/>
          </a:xfrm>
          <a:prstGeom prst="roundRect">
            <a:avLst>
              <a:gd name="adj" fmla="val 1333"/>
            </a:avLst>
          </a:prstGeom>
          <a:solidFill>
            <a:srgbClr val="F4F3F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Colección — lo que ya tenés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Perfumes reales que poseés.
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puede estar en maceración: se guarda la fecha de inicio y se calcula el % de avance sobre 30 días recomendados.
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Insignia si ese mismo perfume también está en tus favoritos.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4251960"/>
            <a:ext cx="4663440" cy="256032"/>
          </a:xfrm>
          <a:prstGeom prst="roundRect">
            <a:avLst>
              <a:gd name="adj" fmla="val 50000"/>
            </a:avLst>
          </a:prstGeom>
          <a:solidFill>
            <a:srgbClr val="DEDBD5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4251960"/>
            <a:ext cx="3108960" cy="256032"/>
          </a:xfrm>
          <a:prstGeom prst="roundRect">
            <a:avLst>
              <a:gd name="adj" fmla="val 50000"/>
            </a:avLst>
          </a:prstGeom>
          <a:solidFill>
            <a:srgbClr val="7A3B3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5720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Macerando · 67% (20/30 días)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0" y="1737360"/>
            <a:ext cx="5120640" cy="4114800"/>
          </a:xfrm>
          <a:prstGeom prst="roundRect">
            <a:avLst>
              <a:gd name="adj" fmla="val 1333"/>
            </a:avLst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19202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Favoritos — lo que querés tener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72200" y="242316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Wishlist: perfumes que te gustaría tener, no necesariamente comprados aún.
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corazón se agrega/saca con fetch() — sin recargar la página.
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"Para vos": recomienda un perfume del catálogo que no tengas en favoritos, priorizando la familia olfativa que más se repite entre tus favoritos actuales.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Perfumerías cercanas: navegador + backend + Leaflet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527048" y="1965960"/>
            <a:ext cx="512064" cy="512064"/>
          </a:xfrm>
          <a:prstGeom prst="ellipse">
            <a:avLst/>
          </a:prstGeom>
          <a:solidFill>
            <a:srgbClr val="7A3B34"/>
          </a:solidFill>
          <a:ln/>
        </p:spPr>
      </p:sp>
      <p:sp>
        <p:nvSpPr>
          <p:cNvPr id="5" name="Text 3"/>
          <p:cNvSpPr/>
          <p:nvPr/>
        </p:nvSpPr>
        <p:spPr>
          <a:xfrm>
            <a:off x="1527048" y="1965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navigator.geolocation pide lat/lon al navegador (con permiso del usuario)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24528" y="1965960"/>
            <a:ext cx="512064" cy="512064"/>
          </a:xfrm>
          <a:prstGeom prst="ellipse">
            <a:avLst/>
          </a:prstGeom>
          <a:solidFill>
            <a:srgbClr val="7A3B34"/>
          </a:solidFill>
          <a:ln/>
        </p:spPr>
      </p:sp>
      <p:sp>
        <p:nvSpPr>
          <p:cNvPr id="9" name="Text 7"/>
          <p:cNvSpPr/>
          <p:nvPr/>
        </p:nvSpPr>
        <p:spPr>
          <a:xfrm>
            <a:off x="4224528" y="1965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4612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al backend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46120" y="30175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tocar la URL: se llama a /api/locales-cercanos?lat=...&amp;lon=...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22008" y="1965960"/>
            <a:ext cx="512064" cy="512064"/>
          </a:xfrm>
          <a:prstGeom prst="ellipse">
            <a:avLst/>
          </a:prstGeom>
          <a:solidFill>
            <a:srgbClr val="7A3B34"/>
          </a:solidFill>
          <a:ln/>
        </p:spPr>
      </p:sp>
      <p:sp>
        <p:nvSpPr>
          <p:cNvPr id="13" name="Text 11"/>
          <p:cNvSpPr/>
          <p:nvPr/>
        </p:nvSpPr>
        <p:spPr>
          <a:xfrm>
            <a:off x="6922008" y="1965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 Haversine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0" y="30175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ServicioLocal calcula distancia real entre dos puntos de la Tierra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619488" y="1965960"/>
            <a:ext cx="512064" cy="512064"/>
          </a:xfrm>
          <a:prstGeom prst="ellipse">
            <a:avLst/>
          </a:prstGeom>
          <a:solidFill>
            <a:srgbClr val="7A3B34"/>
          </a:solidFill>
          <a:ln/>
        </p:spPr>
      </p:sp>
      <p:sp>
        <p:nvSpPr>
          <p:cNvPr id="17" name="Text 15"/>
          <p:cNvSpPr/>
          <p:nvPr/>
        </p:nvSpPr>
        <p:spPr>
          <a:xfrm>
            <a:off x="9619488" y="1965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4108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dibuja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41080" y="30175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con OpenStreetMap: círculo del usuario + pines de perfumerías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10515600" cy="1280160"/>
          </a:xfrm>
          <a:prstGeom prst="roundRect">
            <a:avLst>
              <a:gd name="adj" fmla="val 4286"/>
            </a:avLst>
          </a:prstGeom>
          <a:solidFill>
            <a:srgbClr val="F4F3F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9834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la ubicación viajaba visible en la URL (?lat=...&amp;lon=...) y recargaba toda la página. Ahora: todo pasa por fetch() en segundo plano — más privado y sin recarga.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asesor virtual que solo recomienda lo que existe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126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ServicioGemini arma un prompt con reglas de tono y comportamiento, y le agrega — fresco en cada consulta — el catálogo real de perfumes leído desde la base de datos.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7A3B3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1546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recomienda perfumes que existen en el inventario real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109728" cy="109728"/>
          </a:xfrm>
          <a:prstGeom prst="ellipse">
            <a:avLst/>
          </a:prstGeom>
          <a:solidFill>
            <a:srgbClr val="7A3B3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033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inventa nombres o marcas que no están en el catálogo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109728" cy="109728"/>
          </a:xfrm>
          <a:prstGeom prst="ellipse">
            <a:avLst/>
          </a:prstGeom>
          <a:solidFill>
            <a:srgbClr val="7A3B3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2519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E4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según clima y ocasión de uso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40880" y="1737360"/>
            <a:ext cx="4480560" cy="3749040"/>
          </a:xfrm>
          <a:prstGeom prst="roundRect">
            <a:avLst>
              <a:gd name="adj" fmla="val 1951"/>
            </a:avLst>
          </a:prstGeom>
          <a:solidFill>
            <a:srgbClr val="2A2622"/>
          </a:solidFill>
          <a:ln w="12700">
            <a:solidFill>
              <a:srgbClr val="4945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1920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Petición a Gemini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69480" y="233172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9D6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RestTemplate → POST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9D6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generativelanguage.googleapis.com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9D6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system_instruction: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9D6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reglas + catálogo real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9D6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contents: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9D6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historial + pregunta del usuario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build no pasa si el código no cumple las reglas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383280" cy="3291840"/>
          </a:xfrm>
          <a:prstGeom prst="roundRect">
            <a:avLst>
              <a:gd name="adj" fmla="val 1667"/>
            </a:avLst>
          </a:prstGeom>
          <a:solidFill>
            <a:srgbClr val="F4F3F1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2103120"/>
            <a:ext cx="2871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2606040"/>
            <a:ext cx="2871216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literales de texto duplicados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reasignar parámetros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anomalías de flujo de variables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874520"/>
            <a:ext cx="3383280" cy="3291840"/>
          </a:xfrm>
          <a:prstGeom prst="roundRect">
            <a:avLst>
              <a:gd name="adj" fmla="val 1667"/>
            </a:avLst>
          </a:prstGeom>
          <a:solidFill>
            <a:srgbClr val="F4F3F1"/>
          </a:solidFill>
          <a:ln/>
        </p:spPr>
      </p:sp>
      <p:sp>
        <p:nvSpPr>
          <p:cNvPr id="8" name="Text 6"/>
          <p:cNvSpPr/>
          <p:nvPr/>
        </p:nvSpPr>
        <p:spPr>
          <a:xfrm>
            <a:off x="4507992" y="2103120"/>
            <a:ext cx="2871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Checkstyle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07992" y="2606040"/>
            <a:ext cx="2871216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y convenciones consistentes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Legibilidad uniforme en todo el equipo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874520"/>
            <a:ext cx="3383280" cy="3291840"/>
          </a:xfrm>
          <a:prstGeom prst="roundRect">
            <a:avLst>
              <a:gd name="adj" fmla="val 1667"/>
            </a:avLst>
          </a:prstGeom>
          <a:solidFill>
            <a:srgbClr val="F4F3F1"/>
          </a:solidFill>
          <a:ln/>
        </p:spPr>
      </p:sp>
      <p:sp>
        <p:nvSpPr>
          <p:cNvPr id="11" name="Text 9"/>
          <p:cNvSpPr/>
          <p:nvPr/>
        </p:nvSpPr>
        <p:spPr>
          <a:xfrm>
            <a:off x="8211312" y="2103120"/>
            <a:ext cx="2871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por capa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11312" y="2606040"/>
            <a:ext cx="2871216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integración con HSQLDB en memoria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y Controlador: unitarios con Mockito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4406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 (Marca, FamiliaOlfativa) en vez de texto libre repetido: evitan errores de tipeo y duplicación de literales.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868680" y="3200400"/>
            <a:ext cx="2011680" cy="0"/>
          </a:xfrm>
          <a:prstGeom prst="line">
            <a:avLst/>
          </a:prstGeom>
          <a:noFill/>
          <a:ln w="25400">
            <a:solidFill>
              <a:srgbClr val="7A3B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429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A9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Spring MVC · Hibernate · Thymeleaf · MySQL · Leaflet · Gemini API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6035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[Tu nombre]  ·  [Nombre de tu compañero]  ·  [Nombre de la materia]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900</Words>
  <Application>Microsoft Office PowerPoint</Application>
  <PresentationFormat>Panorámica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Lucas Marron</cp:lastModifiedBy>
  <cp:revision>2</cp:revision>
  <dcterms:created xsi:type="dcterms:W3CDTF">2026-07-16T07:18:19Z</dcterms:created>
  <dcterms:modified xsi:type="dcterms:W3CDTF">2026-07-16T12:11:54Z</dcterms:modified>
</cp:coreProperties>
</file>